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— not graded. Add your name/admin number. Frame: as AI reshapes work, retaining and reskilling the right people early is the business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slide. Optional — drop if you need the slide budget elsewhere.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wants AI draft + meaningful critique + refined version. The critique must show ORIGINAL reasoning — I've pointed at the 'why now' gap and the decision-owner gap. Say in your voice why the AI framing is shallow for YOUR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rubric items on one slide to save budget. If a tutor asks 'is your target leaky?' answer: target is real (employee left/stayed), not derived from features — no circular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sample deck's removal table but on YOUR data. The leakage row is your strongest defensive point — make it verbally.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= the highlighted engineered feature. BE HONEST that AIExposure is a proxy. The chart proves it correlates but isn't deterministic — this nuance protects you in Q&amp;A and matches the rubric's 'leakage/limits addressed'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DT→RF→XGB arc as the sample but justified for attrition. Key line: accuracy misleads on imbalanced data; we optimise Recall/MCC.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honesty point: I rejected an ultra-low threshold that 'achieved' 80% recall by flagging almost everyone. The F1-optimal choice (~0.74 recall, 0.36 precision) is defensible. If asked why precision is low: attrition is hard; we accept false alarms because a retention conversation is cheap vs losing someone.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REAL and honest. Don't claim 99% recall like the sample — your realistic numbers are more defensible. Accuracy high + recall low = the imbalance trap you're demonstrating.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 0.79 shows the recall isn't just over-flagging — the model genuinely ranks risk. False positives are the accepted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limitations are rubric gold — 'limits/assumptions addressed'. Stating the synthetic-data caveat yourself pre-empts the tutor's biggest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AIExposure being #2 is your headline — the engineered feature genuinely matters. Last bullet is the key epistemic caveat (matches sample deck).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Supporting-evidence slide, mirrors sample's FI/PFI. Point: drivers survive a second, independent importance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dependence plots. Business read: burnout (overtime) and automation anxiety (AI-exposure) both drive exits — and both are things Mei can act on via workload balancing and reskilling.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Waterfall = one person's risk broken into drivers, matching sample deck. Scenario ties it to YOUR industry: reskilling into less-automatable roles. This is the payoff of the whole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must be concrete &amp; tied to insights (rubric). Every recommendation traces to a SHAP driver you showed.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Risks/mitigations mirror sample. Put full URLs + your AI-conversation links in the cover-page declaration per the assignment. Cite AI use as personal communication per APA 7 (see brief).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Employee Flight-Risk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Early-Warning Model for Workforce Retention &amp; Reskilling in the Age of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Analytics with Large Language Models (CBA1C03)  •  Individual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•  [Admin No.]  •  School of Informatics &amp; 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51790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151790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attrition matters now — the AI restructuring context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942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24942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37360" y="230428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&amp; JTBD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30428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model and the job it does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03580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37360" y="30906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0906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the AI-exposure proxy, encoding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82219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387705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87705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→ Random Forest → XGBoost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0857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608576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37360" y="4663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4663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tuning, confusion matrix, ROC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39496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737360" y="544982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Actions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0" y="544982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+ local, reskilling scenarios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 —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 (summarised)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“Employees leave, which costs money. A model can predict who will leave so HR can act. This affects HR and management.”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0E9E1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154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critique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— ignores WHY now: AI-driven restructuring is changing which roles are exposed.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'costs money' but omits the strategic loss of reskillable talent and institutional knowledge.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say who decides or when the model is used.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B2B2B"/>
                </a:solidFill>
              </a:rPr>
              <a:t>As AI and automation reshape job roles, organisations face rising, uneven attrition — and risk losing employees they could have retained or reskilled.
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B2B2B"/>
                </a:solidFill>
              </a:rPr>
              <a:t>Voluntary exits are costly (hiring, lost productivity, knowledge drain) and hit AI-exposed roles hardest.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B2B2B"/>
                </a:solidFill>
              </a:rPr>
              <a:t>For a workforce-development function, the goal is not just to predict exits but to target retention and reskilling before they happen.
</a:t>
            </a:r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6D2E46"/>
                </a:solidFill>
              </a:rPr>
              <a:t>Who it affects: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B2B2B"/>
                </a:solidFill>
              </a:rPr>
              <a:t>the HR / Workforce-Development Lead (owns retention KPIs), line managers, and employees whose roles are shifting under AI.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 — 2/3 &amp;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&amp; Job-To-Be-Done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— Mei, Workforce-Development / HR Lead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cut regretted attrition; redeploy &amp; reskill staff in AI-exposed roles before they exit.</a:t>
            </a:r>
            <a:endParaRPr lang="en-US" sz="128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 monitors quarterly attrition, runs retention &amp; upskilling programmes, advises managers.</a:t>
            </a:r>
            <a:endParaRPr lang="en-US" sz="128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 exits look obvious only in hindsight; limited budget forces her to target the few she can save.</a:t>
            </a:r>
            <a:endParaRPr lang="en-US" sz="128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she uses it: a per-employee flight-risk score + the drivers behind it, reviewed at 1:1 and planning cycles.</a:t>
            </a:r>
            <a:endParaRPr lang="en-US" sz="128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needed: ranked risk list, driver breakdown, a reskilling/retention action per flagged person.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 &amp; Modelling 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6D2E46"/>
                </a:solidFill>
              </a:rPr>
              <a:t>Job: </a:t>
            </a:r>
            <a:pPr indent="0" marL="0">
              <a:lnSpc>
                <a:spcPct val="103000"/>
              </a:lnSpc>
              <a:buNone/>
            </a:pPr>
            <a:r>
              <a:rPr lang="en-US" sz="1350" i="1" dirty="0">
                <a:solidFill>
                  <a:srgbClr val="2B2B2B"/>
                </a:solidFill>
              </a:rPr>
              <a:t>“When I review my team, help me spot who is at risk of leaving and why, so I can act with targeted retention or reskilling before they go.”
</a:t>
            </a:r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6D2E46"/>
                </a:solidFill>
              </a:rPr>
              <a:t>Target variable: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B2B2B"/>
                </a:solidFill>
              </a:rPr>
              <a:t>Attrition (1 = left, 0 = stayed). Minority class ≈ 16% → a rare-event problem.
</a:t>
            </a:r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6D2E46"/>
                </a:solidFill>
              </a:rPr>
              <a:t>Likely predictors (available before exit):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B2B2B"/>
                </a:solidFill>
              </a:rPr>
              <a:t>overtime, income &amp; stock options, age &amp; tenure, commute distance, satisfaction scores, and an engineered AI-exposure score per role.
</a:t>
            </a:r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3D4F5D"/>
                </a:solidFill>
              </a:rPr>
              <a:t>No post-exit fields are used — the score must be available while the person is still employed.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FEATURE ENGINEERING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Data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6D2E46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(rows)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6D2E46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813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→ 34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modelled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6D2E46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813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(minority)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6D2E46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4813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columns removed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removed and why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29184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Near-constant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291840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EmployeeCount, StandardHours, Over18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for every row → zero signal.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22452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noise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224528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EmployeeNumber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4224528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— model would memorise, not generalise.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515721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check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26080" y="5157216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F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(none needed)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09360" y="5157216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did employee leave; not derived from features, so no circular leakage.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FEATURE ENGINEERING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 (incl. AI-Exposure)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C99846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AIExposure ★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job role to an automation-exposure score (0.25–0.85), informed by Frey-Osborne / WEF-style rankings. A defensible proxy, not ground truth.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386584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323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TenureRatio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YearsAtCompany ÷ total career — separates loyalty from stagnation.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401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IncomePerLevel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relative to job level — flags under-rewarded staff.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25112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370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StagnantFlag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467258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years since last promotion — a career-plateau signal.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294376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3400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641848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for ordered fields (travel, education); integer codes for nominal roles — keeps XGBoost splits meaningful, avoids one-hot explosion.</a:t>
            </a:r>
            <a:endParaRPr lang="en-US" sz="1150" dirty="0"/>
          </a:p>
        </p:txBody>
      </p:sp>
      <p:pic>
        <p:nvPicPr>
          <p:cNvPr id="19" name="Image 0" descr="/home/claude/c9_aiexposure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554480"/>
            <a:ext cx="4937760" cy="3200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675120" y="4892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finding: AI-exposure does NOT rise monotonically with attrition — it interacts with pay &amp; overtime. Shown as a driver, not a guarantee.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models, in this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A267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Decision Tree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if-then rules a manager can read. Sets a floor — but low recall on the minority class.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1732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3D4F5D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4630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Random Forest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stabilises predictions and lifts AUC, but still biases toward the majority 'Stay' class.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41732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4630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XGBoost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6517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captures interactions (OverTime × Income × Role). Best balance of recall &amp; ranking power.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Same stratified 80/20 split · same preprocessing (median impute, ordinal encode) · same metrics.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Because attrition is only ~16%, accuracy misleads — so Recall and MCC are the headline metrics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2B2B2B"/>
                </a:solidFill>
              </a:rPr>
              <a:t>(catching a leaver matters more than a false alarm).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HANDLING IMBALANCE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Tuning for the minority class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default models chase accuracy → they predict 'Stay' and miss most leavers (Stage-1 recall ≈ 13–26%).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+ scale_pos_weight (≈5.2): penalise missed leavers ~5× more than false alarms.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(subsample, colsample_bytree) to prevent the deeper trees from overfitting.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tuning: instead of the default 0.5, pick the F1-optimal cut-off from the precision–recall curve.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recall jumps to ~74% at a threshold we can defend — a genuine early-warning net, not 'flag everyone'.</a:t>
            </a:r>
            <a:endParaRPr lang="en-US" sz="1350" dirty="0"/>
          </a:p>
        </p:txBody>
      </p:sp>
      <p:pic>
        <p:nvPicPr>
          <p:cNvPr id="5" name="Image 0" descr="/home/claude/c0_pr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087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EVALUATION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results</a:t>
            </a:r>
            <a:endParaRPr lang="en-US" sz="3000" dirty="0"/>
          </a:p>
        </p:txBody>
      </p:sp>
      <p:pic>
        <p:nvPicPr>
          <p:cNvPr id="4" name="Image 0" descr="/home/claude/c1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105156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480060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49377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D2E46"/>
                </a:solidFill>
              </a:rPr>
              <a:t>Read it as: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Stage-1 models look 'accurate' (83–86%) but that's the imbalance talking — their recall is poor.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The Stage-2 weighted XGBoost (highlighted) is chosen for the best balance of MCC &amp; AUC, then threshold-tuned for recall on the next slides.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EVALUATION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Reliability: confusion matrix &amp; ROC</a:t>
            </a:r>
            <a:endParaRPr lang="en-US" sz="3000" dirty="0"/>
          </a:p>
        </p:txBody>
      </p:sp>
      <p:pic>
        <p:nvPicPr>
          <p:cNvPr id="4" name="Image 0" descr="/home/claude/c2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754880" cy="3931920"/>
          </a:xfrm>
          <a:prstGeom prst="rect">
            <a:avLst/>
          </a:prstGeom>
        </p:spPr>
      </p:pic>
      <p:pic>
        <p:nvPicPr>
          <p:cNvPr id="5" name="Image 1" descr="/home/claude/c3_r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475488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of 4 leavers caught at creation-time info; AUC 0.79 = strong ranking power, well above random.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EVALUATION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choice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146304" cy="1051560"/>
          </a:xfrm>
          <a:prstGeom prst="roundRect">
            <a:avLst>
              <a:gd name="adj" fmla="val 12500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46304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leaver (lost talent, rehire cost) hurts more than a false alarm (a low-cost retention chat).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9689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96896"/>
            <a:ext cx="146304" cy="1051560"/>
          </a:xfrm>
          <a:prstGeom prst="roundRect">
            <a:avLst>
              <a:gd name="adj" fmla="val 12500"/>
            </a:avLst>
          </a:prstGeom>
          <a:solidFill>
            <a:srgbClr val="3D4F5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96896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MCC/AUC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596896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trustworthy scores on imbalanced data; AUC shows ranking quality independent of threshold.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075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730752"/>
            <a:ext cx="146304" cy="1051560"/>
          </a:xfrm>
          <a:prstGeom prst="roundRect">
            <a:avLst>
              <a:gd name="adj" fmla="val 12500"/>
            </a:avLst>
          </a:prstGeom>
          <a:solidFill>
            <a:srgbClr val="A2676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3075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precision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730752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~36% precision means many flagged stay. Mitigated by human-in-the-loop: the score prompts a conversation, not an automatic action.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6460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864608"/>
            <a:ext cx="146304" cy="1051560"/>
          </a:xfrm>
          <a:prstGeom prst="roundRect">
            <a:avLst>
              <a:gd name="adj" fmla="val 12500"/>
            </a:avLst>
          </a:prstGeom>
          <a:solidFill>
            <a:srgbClr val="C9984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6460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4864608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dataset is synthetic &amp; US-context; AI-exposure is a proxy. Findings are directional, to be revalidated on real local HR data.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INSIGHTS 1/4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drivers: SHAP beeswarm</a:t>
            </a:r>
            <a:endParaRPr lang="en-US" sz="3000" dirty="0"/>
          </a:p>
        </p:txBody>
      </p:sp>
      <p:pic>
        <p:nvPicPr>
          <p:cNvPr id="4" name="Image 0" descr="/home/claude/c4_beesw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309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088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40880" y="196596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single strongest driver — those working overtime skew sharply toward leaving.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AI-Exposure is the #2 driver — roles more exposed to automation carry higher predicted flight-risk.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StockOptionLevel &amp; Income lower risk — reward/ownership retains people.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tenure: younger, shorter-tenure staff lean higher-risk.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contribution to predicted risk — not a guaranteed exit.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INSIGHTS 2/4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Cross-check: importance vs permutation</a:t>
            </a:r>
            <a:endParaRPr lang="en-US" sz="3000" dirty="0"/>
          </a:p>
        </p:txBody>
      </p:sp>
      <p:pic>
        <p:nvPicPr>
          <p:cNvPr id="4" name="Image 0" descr="/home/claude/c5_fi_p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309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0880" y="182880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importance can favour high-cardinality features; permutation importance re-tests each feature by shuffling it.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AI-Exposure and reward features stay important under BOTH methods — a robustness check.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the two builds trust that the drivers are real signal, not artefacts of one metric.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using them for decision-making, not just description.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INSIGHTS 3/4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deep-dive: OverTime &amp; AI-Exposure</a:t>
            </a:r>
            <a:endParaRPr lang="en-US" sz="3000" dirty="0"/>
          </a:p>
        </p:txBody>
      </p:sp>
      <p:pic>
        <p:nvPicPr>
          <p:cNvPr id="4" name="Image 0" descr="/home/claude/c6_dep_over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486400" cy="3931920"/>
          </a:xfrm>
          <a:prstGeom prst="rect">
            <a:avLst/>
          </a:prstGeom>
        </p:spPr>
      </p:pic>
      <p:pic>
        <p:nvPicPr>
          <p:cNvPr id="5" name="Image 1" descr="/home/claude/c7_dep_aiexpos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08760"/>
            <a:ext cx="548640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pushes risk up regardless of pay — a workload/burnout signal.  |  Higher AI-exposure roles carry a positive risk contribution, strongest where pay is low.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INSIGHTS 4/4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case &amp; reskilling scenario</a:t>
            </a:r>
            <a:endParaRPr lang="en-US" sz="3000" dirty="0"/>
          </a:p>
        </p:txBody>
      </p:sp>
      <p:pic>
        <p:nvPicPr>
          <p:cNvPr id="4" name="Image 0" descr="/home/claude/c8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60350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463040"/>
            <a:ext cx="4846320" cy="4480560"/>
          </a:xfrm>
          <a:prstGeom prst="roundRect">
            <a:avLst>
              <a:gd name="adj" fmla="val 1633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Mei acts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49440" y="1965960"/>
            <a:ext cx="44805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D2E46"/>
                </a:solidFill>
              </a:rPr>
              <a:t>Trigger: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a high AI-exposure employee, on frequent overtime, low stock options, is flagged at ~90% risk.
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D2E46"/>
                </a:solidFill>
              </a:rPr>
              <a:t>Before: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the exit only becomes visible at resignation — too late to retain.
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D2E46"/>
                </a:solidFill>
              </a:rPr>
              <a:t>After: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the score surfaces early. Mei reviews the drivers, rebalances workload, and enrols them in a reskilling track toward a less-automatable adjacent role — turning a likely exit into a redeployment.
</a:t>
            </a:r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3D4F5D"/>
                </a:solidFill>
              </a:rPr>
              <a:t>Human-in-the-loop: the model prompts the conversation; Mei decides.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score as an early-warning list, reviewed each planning cycle — not an auto-action.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retention/reskilling budget on high-risk, high-AI-exposure, reskillable staff.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Tackle overtime as a systemic driver, not case-by-case.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flag with a concrete action: workload fix, reward review, or reskilling track.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on real local HR data before trusting specific numbers.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intervention: at-risk talent surfaced while retention is still possible.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spend: limited reskilling budget aimed where it changes an outcome.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surprise exits driven by burnout or automation anxiety.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 from 'who leaves' to 'who we can reskill' — directly serving workforce-development goals.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mitigations &amp;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1732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→ workload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417320"/>
            <a:ext cx="6217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Keep human-in-the-loop; use for prioritisation, not auto-action.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0008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the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350008"/>
            <a:ext cx="6217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Treat SHAP as guidance on patterns, not rules that decide.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82696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&amp; synthetic-data limits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3282696"/>
            <a:ext cx="6217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AI-exposure is literature-informed, not measured; revalidate on real data.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7F3EE"/>
          </a:solidFill>
          <a:ln/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215384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(roles, AI change fast)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4215384"/>
            <a:ext cx="6217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Review outputs periodically; retrain as roles and exposure shift.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4F5D"/>
                </a:solidFill>
              </a:rPr>
              <a:t>References &amp; data: 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</a:rPr>
              <a:t>IBM HR Analytics Employee Attrition dataset (synthetic, Kaggle).  Frey &amp; Osborne (2013), The Future of Employment.  WEF Future of Jobs.  SHAP: Lundberg &amp; Lee (2017).  AI-exposure scores are the author's literature-informed proxy (personal analysis).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2026-07-19T06:42:48Z</dcterms:created>
  <dcterms:modified xsi:type="dcterms:W3CDTF">2026-07-19T06:42:48Z</dcterms:modified>
</cp:coreProperties>
</file>